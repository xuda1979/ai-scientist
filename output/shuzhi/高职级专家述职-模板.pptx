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12"/>
  </p:handoutMasterIdLst>
  <p:sldIdLst>
    <p:sldId id="826" r:id="rId4"/>
    <p:sldId id="6591" r:id="rId6"/>
    <p:sldId id="6578" r:id="rId7"/>
    <p:sldId id="6593" r:id="rId8"/>
    <p:sldId id="6589" r:id="rId9"/>
    <p:sldId id="6594" r:id="rId10"/>
    <p:sldId id="6595" r:id="rId11"/>
  </p:sldIdLst>
  <p:sldSz cx="12192000" cy="6858000"/>
  <p:notesSz cx="9939020" cy="68072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左敏" initials="ZM" lastIdx="2" clrIdx="0"/>
  <p:cmAuthor id="2" name="ZJK" initials="Z" lastIdx="5" clrIdx="42"/>
  <p:cmAuthor id="3" name="作者" initials="A" lastIdx="0" clrIdx="2"/>
  <p:cmAuthor id="4" name="Administrator" initials="A" lastIdx="2" clrIdx="1"/>
  <p:cmAuthor id="5" name="shy" initials="s" lastIdx="11" clrIdx="2"/>
  <p:cmAuthor id="6" name="何 玉庆" initials="何" lastIdx="1" clrIdx="3"/>
  <p:cmAuthor id="7" name="尹瑶瑶" initials="YYY" lastIdx="1" clrIdx="47"/>
  <p:cmAuthor id="8" name="小延魔法师" initials="小" lastIdx="1126286" clrIdx="0"/>
  <p:cmAuthor id="9" name="PJ Landwehrle" initials="P" lastIdx="10" clrIdx="3"/>
  <p:cmAuthor id="10" name="Steve Thorne" initials="S" lastIdx="2" clrIdx="4"/>
  <p:cmAuthor id="11" name="黄晓平" initials="黄" lastIdx="0" clrIdx="0"/>
  <p:cmAuthor id="12" name="李超（IT）" initials="L" lastIdx="1" clrIdx="9"/>
  <p:cmAuthor id="13" name="朱磊" initials="朱" lastIdx="2" clrIdx="10"/>
  <p:cmAuthor id="14" name="yang li" initials="yl" lastIdx="2" clrIdx="13"/>
  <p:cmAuthor id="15" name="李岩（IT）" initials="李" lastIdx="2" clrIdx="13"/>
  <p:cmAuthor id="16" name="13686" initials="1" lastIdx="1" clrIdx="14"/>
  <p:cmAuthor id="17" name="彭润" initials="彭" lastIdx="1" clrIdx="15"/>
  <p:cmAuthor id="18" name="00035181" initials="0" lastIdx="1" clrIdx="16"/>
  <p:cmAuthor id="19" name="Liu Jialin" initials="LJ" lastIdx="1" clrIdx="21"/>
  <p:cmAuthor id="20" name="lenovo" initials="l" lastIdx="1" clrIdx="22"/>
  <p:cmAuthor id="21" name="李婧宜_YBferYVR" initials="authorId_1217247658" lastIdx="0" clrIdx="0"/>
  <p:cmAuthor id="22" name="Hou Yingfeng" initials="H" lastIdx="10" clrIdx="23"/>
  <p:cmAuthor id="23" name="未知用户20" initials="未" lastIdx="1" clrIdx="23"/>
  <p:cmAuthor id="24" name="rev2" initials="r" lastIdx="1" clrIdx="36"/>
  <p:cmAuthor id="25" name="孟震" initials="孟" lastIdx="1" clrIdx="31"/>
  <p:cmAuthor id="26" name="未知用户6" initials="未知用户6" lastIdx="1" clrIdx="9"/>
  <p:cmAuthor id="27" name="XUWEI" initials="X" lastIdx="1" clrIdx="10"/>
  <p:cmAuthor id="28" name="仉 凯" initials="仉" lastIdx="1" clrIdx="18"/>
  <p:cmAuthor id="29" name="安 宝来" initials="安" lastIdx="2" clrIdx="19"/>
  <p:cmAuthor id="30" name="feng xingbo" initials="fx" lastIdx="1" clrIdx="24"/>
  <p:cmAuthor id="31" name="fei Ren" initials="fR" lastIdx="1" clrIdx="25"/>
  <p:cmAuthor id="32" name="hm" initials="h" lastIdx="10" clrIdx="41"/>
  <p:cmAuthor id="33" name="王凤君" initials="王" lastIdx="1" clrIdx="32"/>
  <p:cmAuthor id="47" name="clj" initials="c" lastIdx="1" clrIdx="46"/>
  <p:cmAuthor id="34" name="A6910@365ms.vip" initials="A" lastIdx="1" clrIdx="33"/>
  <p:cmAuthor id="35" name="A6910" initials="A" lastIdx="1" clrIdx="34"/>
  <p:cmAuthor id="36" name="su liqin" initials="sl" lastIdx="1" clrIdx="35"/>
  <p:cmAuthor id="37" name="陈召国" initials="c" lastIdx="1" clrIdx="36"/>
  <p:cmAuthor id="287643681" name="殷格非" initials="殷" lastIdx="2" clrIdx="0"/>
  <p:cmAuthor id="40" name="未知用户34" initials="未" lastIdx="1" clrIdx="37"/>
  <p:cmAuthor id="41" name="未知用户35" initials="未" lastIdx="1" clrIdx="38"/>
  <p:cmAuthor id="287643682" name="z r" initials="zr" lastIdx="5" clrIdx="12"/>
  <p:cmAuthor id="287643683" name="lc xue" initials="lx" lastIdx="1" clrIdx="22"/>
  <p:cmAuthor id="353158055" name="韩雨" initials="韩" lastIdx="0" clrIdx="0"/>
  <p:cmAuthor id="2001" name="DaiZhengYuan" initials="D" lastIdx="3" clrIdx="7"/>
  <p:cmAuthor id="38" name="10045953" initials="1" lastIdx="1" clrIdx="32"/>
  <p:cmAuthor id="191251535" name="沈霄雷" initials="沈" lastIdx="833089" clrIdx="0"/>
  <p:cmAuthor id="42" name="黄珂10009187" initials="黄" lastIdx="1" clrIdx="37"/>
  <p:cmAuthor id="43" name="赵欣" initials="赵" lastIdx="4" clrIdx="37"/>
  <p:cmAuthor id="691587971" name="da lin" initials="dl" lastIdx="1" clrIdx="48"/>
  <p:cmAuthor id="49" name="cmcc" initials="c" lastIdx="1" clrIdx="48"/>
  <p:cmAuthor id="394525608" name="仇怿俊" initials="仇" lastIdx="0" clrIdx="0"/>
  <p:cmAuthor id="50" name="sizhao@cmsr.cmcc" initials="S" lastIdx="1" clrIdx="49"/>
  <p:cmAuthor id="394525609" name="mei shuo" initials="mei shuo" lastIdx="1" clrIdx="24"/>
  <p:cmAuthor id="53" name="施旻" initials="施" lastIdx="1" clrIdx="52"/>
  <p:cmAuthor id="54" name="zhangyuexin@hq.cmcc" initials="zhangyuexin@hq.cmcc" lastIdx="1" clrIdx="53"/>
  <p:cmAuthor id="55" name="黎丹" initials="黎" lastIdx="2" clrIdx="0"/>
  <p:cmAuthor id="56" name="Chengli" initials="C" lastIdx="6" clrIdx="0"/>
  <p:cmAuthor id="1411828" name="Eraser-CV_732yNZVB" initials="authorId_935319539" lastIdx="0" clrIdx="0"/>
  <p:cmAuthor id="1411829" name="张静_Anua7Nne" initials="authorId_93531906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558ED5"/>
    <a:srgbClr val="CEDCC8"/>
    <a:srgbClr val="FDE11C"/>
    <a:srgbClr val="97C890"/>
    <a:srgbClr val="0066FF"/>
    <a:srgbClr val="71CA52"/>
    <a:srgbClr val="5C79A3"/>
    <a:srgbClr val="79D0F3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5" autoAdjust="0"/>
    <p:restoredTop sz="94157" autoAdjust="0"/>
  </p:normalViewPr>
  <p:slideViewPr>
    <p:cSldViewPr>
      <p:cViewPr>
        <p:scale>
          <a:sx n="66" d="100"/>
          <a:sy n="66" d="100"/>
        </p:scale>
        <p:origin x="-832" y="208"/>
      </p:cViewPr>
      <p:guideLst>
        <p:guide orient="horz" pos="2698"/>
        <p:guide pos="360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697" y="-58"/>
      </p:cViewPr>
      <p:guideLst>
        <p:guide orient="horz" pos="1429"/>
        <p:guide pos="337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0567" y="0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BCE4F-68F6-402B-8D56-233903AA0D1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0567" y="6465265"/>
            <a:ext cx="4307046" cy="3403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9A102-EAFD-469C-A2E6-D4D98BDA9C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9992" y="1"/>
            <a:ext cx="4307046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934" y="3275966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9992" y="6465659"/>
            <a:ext cx="4307046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8365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5565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BADA38E-2DF2-423A-9F50-A2B71CC8BB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8229" y="951404"/>
            <a:ext cx="11550015" cy="899159"/>
          </a:xfrm>
          <a:prstGeom prst="rect">
            <a:avLst/>
          </a:prstGeom>
          <a:solidFill>
            <a:srgbClr val="F2F2F2"/>
          </a:solidFill>
        </p:spPr>
        <p:txBody>
          <a:bodyPr lIns="68580" tIns="34290" rIns="68580" bIns="34290" anchor="ctr"/>
          <a:lstStyle>
            <a:lvl1pPr marL="285750" indent="-285750" algn="l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b="1">
                <a:solidFill>
                  <a:srgbClr val="3797D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65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1048583" name="标题 1"/>
          <p:cNvSpPr>
            <a:spLocks noGrp="1"/>
          </p:cNvSpPr>
          <p:nvPr>
            <p:ph type="title"/>
          </p:nvPr>
        </p:nvSpPr>
        <p:spPr>
          <a:xfrm>
            <a:off x="397762" y="241648"/>
            <a:ext cx="9644761" cy="396000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04928" y="412619"/>
            <a:ext cx="9909225" cy="36799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a typeface="等线" panose="02010600030101010101" pitchFamily="2" charset="-122"/>
              </a:defRPr>
            </a:lvl1pPr>
          </a:lstStyle>
          <a:p>
            <a:fld id="{19869BFA-7324-EE4D-A170-9D7BBDB5FA8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ea typeface="等线" panose="02010600030101010101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ea typeface="等线" panose="02010600030101010101" pitchFamily="2" charset="-122"/>
              </a:defRPr>
            </a:lvl1pPr>
          </a:lstStyle>
          <a:p>
            <a:fld id="{BAA8BA35-92C9-3F46-B03D-7925D0875F0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Documents and Settings\guoliang_liu\桌面\中国移动通信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76467" y="90488"/>
            <a:ext cx="1468967" cy="38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350" y="197768"/>
            <a:ext cx="10523933" cy="4949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华文中宋" panose="02010600040101010101" charset="-122"/>
                <a:ea typeface="华文中宋" panose="02010600040101010101" charset="-122"/>
              </a:defRPr>
            </a:lvl1pPr>
            <a:lvl2pPr>
              <a:lnSpc>
                <a:spcPct val="150000"/>
              </a:lnSpc>
              <a:defRPr sz="2000">
                <a:latin typeface="华文中宋" panose="02010600040101010101" charset="-122"/>
                <a:ea typeface="华文中宋" panose="02010600040101010101" charset="-122"/>
              </a:defRPr>
            </a:lvl2pPr>
            <a:lvl3pPr>
              <a:lnSpc>
                <a:spcPct val="150000"/>
              </a:lnSpc>
              <a:defRPr sz="1700">
                <a:latin typeface="华文中宋" panose="02010600040101010101" charset="-122"/>
                <a:ea typeface="华文中宋" panose="02010600040101010101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7" name="灯片编号占位符 5"/>
          <p:cNvSpPr txBox="1"/>
          <p:nvPr userDrawn="1"/>
        </p:nvSpPr>
        <p:spPr>
          <a:xfrm>
            <a:off x="11620539" y="6572273"/>
            <a:ext cx="571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3D0F3B3-1718-485C-BC14-7BBB0EB29D0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图片 7" descr="ppt模板-02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0EA66E-A43E-4CB4-AB81-9F30901FD168}" type="slidenum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-02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1664619" y="6608386"/>
            <a:ext cx="52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173ED6-4A69-4FA8-8A09-51FC87ACF5D8}" type="slidenum">
              <a:rPr lang="zh-CN" altLang="en-US" sz="1200" b="1" smtClean="0">
                <a:solidFill>
                  <a:srgbClr val="9BBB59"/>
                </a:solidFill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z="1200" b="1" dirty="0">
              <a:solidFill>
                <a:srgbClr val="9BBB5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09600" y="963058"/>
            <a:ext cx="10972800" cy="468052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lnSpc>
                <a:spcPct val="150000"/>
              </a:lnSpc>
              <a:defRPr sz="20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lnSpc>
                <a:spcPct val="150000"/>
              </a:lnSpc>
              <a:defRPr sz="17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ppt模板-01.jpg"/>
          <p:cNvPicPr>
            <a:picLocks noChangeAspect="1"/>
          </p:cNvPicPr>
          <p:nvPr userDrawn="1"/>
        </p:nvPicPr>
        <p:blipFill>
          <a:blip r:embed="rId2"/>
          <a:srcRect l="4094" r="69052" b="81593"/>
          <a:stretch>
            <a:fillRect/>
          </a:stretch>
        </p:blipFill>
        <p:spPr>
          <a:xfrm>
            <a:off x="499110" y="0"/>
            <a:ext cx="2696210" cy="12623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6" descr="ppt模板-01.jpg"/>
          <p:cNvPicPr>
            <a:picLocks noChangeAspect="1"/>
          </p:cNvPicPr>
          <p:nvPr userDrawn="1"/>
        </p:nvPicPr>
        <p:blipFill>
          <a:blip r:embed="rId2"/>
          <a:srcRect l="35359" t="55157" b="287"/>
          <a:stretch>
            <a:fillRect/>
          </a:stretch>
        </p:blipFill>
        <p:spPr>
          <a:xfrm>
            <a:off x="4311015" y="3802380"/>
            <a:ext cx="7880985" cy="30556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3.jpe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3" descr="ppt模板-02.jpg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0" b="90922"/>
          <a:stretch>
            <a:fillRect/>
          </a:stretch>
        </p:blipFill>
        <p:spPr bwMode="auto">
          <a:xfrm>
            <a:off x="-38100" y="-43815"/>
            <a:ext cx="12240260" cy="696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>
            <a:spLocks noChangeArrowheads="1"/>
          </p:cNvSpPr>
          <p:nvPr userDrawn="1"/>
        </p:nvSpPr>
        <p:spPr bwMode="auto">
          <a:xfrm>
            <a:off x="11749088" y="6521450"/>
            <a:ext cx="442912" cy="309563"/>
          </a:xfrm>
          <a:prstGeom prst="rect">
            <a:avLst/>
          </a:prstGeom>
          <a:noFill/>
          <a:ln>
            <a:noFill/>
          </a:ln>
        </p:spPr>
        <p:txBody>
          <a:bodyPr lIns="92888" tIns="46444" rIns="92888" bIns="46444" anchor="ctr" anchorCtr="1">
            <a:spAutoFit/>
          </a:bodyPr>
          <a:lstStyle>
            <a:lvl1pPr defTabSz="885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85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85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85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858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885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885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885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8858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1677F15A-EE75-4C17-937B-9ADB61CBAB9E}" type="slidenum">
              <a:rPr lang="en-US" altLang="zh-CN" sz="1400" smtClean="0">
                <a:latin typeface="等线" panose="02010600030101010101" pitchFamily="2" charset="-122"/>
                <a:ea typeface="等线" panose="02010600030101010101" pitchFamily="2" charset="-122"/>
              </a:rPr>
            </a:fld>
            <a:endParaRPr lang="zh-CN" altLang="zh-CN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5"/>
          <p:cNvGraphicFramePr>
            <a:graphicFrameLocks noChangeAspect="1"/>
          </p:cNvGraphicFramePr>
          <p:nvPr/>
        </p:nvGraphicFramePr>
        <p:xfrm>
          <a:off x="152400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think-cell Slide" r:id="rId1" imgW="12700" imgH="12700" progId="">
                  <p:embed/>
                </p:oleObj>
              </mc:Choice>
              <mc:Fallback>
                <p:oleObj name="think-cell Slide" r:id="rId1" imgW="12700" imgH="12700" progId="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24000" y="0"/>
                        <a:ext cx="158750" cy="158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3"/>
          <p:cNvSpPr txBox="1"/>
          <p:nvPr/>
        </p:nvSpPr>
        <p:spPr>
          <a:xfrm>
            <a:off x="635" y="2286000"/>
            <a:ext cx="12193270" cy="683895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spAutoFit/>
          </a:bodyPr>
          <a:p>
            <a:pPr algn="ctr" defTabSz="1474470" eaLnBrk="0"/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高职级专家述职模板（总页数</a:t>
            </a:r>
            <a:r>
              <a:rPr lang="en-US" altLang="zh-CN" sz="4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6-10</a:t>
            </a:r>
            <a:r>
              <a:rPr lang="zh-CN" altLang="en-US" sz="4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页）</a:t>
            </a:r>
            <a:endParaRPr lang="zh-CN" altLang="en-US" sz="4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5" y="4724400"/>
            <a:ext cx="121907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部门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姓名</a:t>
            </a:r>
            <a:endParaRPr lang="zh-CN" altLang="en-US" sz="24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技术攻关：年度亮点工作及完成情况（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必有）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技术攻关：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可变化）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技术影响力：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必有）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专业队伍培养：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必有）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问题与改进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必有）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Box 3"/>
          <p:cNvSpPr txBox="1"/>
          <p:nvPr/>
        </p:nvSpPr>
        <p:spPr>
          <a:xfrm>
            <a:off x="304800" y="776605"/>
            <a:ext cx="11517630" cy="6099810"/>
          </a:xfrm>
          <a:prstGeom prst="rect">
            <a:avLst/>
          </a:prstGeom>
          <a:noFill/>
        </p:spPr>
        <p:txBody>
          <a:bodyPr vert="horz" wrap="square" lIns="68591" tIns="34295" rIns="68591" bIns="34295" numCol="1" anchor="t">
            <a:noAutofit/>
          </a:bodyPr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一、参会人员：院领导、集团首席专家、4-2及以上专家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二、述职人员：首席专家、4-2及以上专家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 fontAlgn="auto"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三、述职内容（包括但不限于）：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、技术攻关成果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：年度亮点工作完成情况、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核心成果产出数据等；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技术专家：在项目中承担的角色；作为技术研究者主导提出的标志性技术、主导的技术贡献；作为第一贡献人和参与贡献人的专利；作为项目管理者，主要开展的工作；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管理专家：自身职责、主导的工作、工作成效和价值；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、技术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影响力：行业技术引领（会议或报告等）、成果转化及应用情况。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专业队伍培养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：团队梯队建设、科研技能培训/经验传承等成果；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、问题与改进：科研推进难点、成果转化瓶颈、个人能力短板及针对性改进措施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0" algn="l" defTabSz="1474470" eaLnBrk="0" fontAlgn="auto">
              <a:lnSpc>
                <a:spcPct val="150000"/>
              </a:lnSpc>
              <a:extLst>
                <a:ext uri="{35155182-B16C-46BC-9424-99874614C6A1}">
                  <wpsdc:marlchars xmlns:wpsdc="http://www.wps.cn/officeDocument/2017/drawingmlCustomData" val="200" checksum="895354731"/>
                </a:ext>
              </a:extLst>
            </a:pP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、未来规划：下阶段科研方向（聚焦前沿领域）、成果转化升级目标、团队建设重点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四、评分说明：院领导根据专家工作及述职情况，通过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OA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进行评分</a:t>
            </a: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1、评分维度：从三个方面进行百分制打分，技术攻关占比40％、技术影响力占比30％、专业队伍培养占比30％；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2、评分标准：成绩90分及以上视为“优秀”、[80-90）分视为“良好”，[60-80）分视为“称职”，60分以下视为“不称职”。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lvl="1" algn="l" defTabSz="1474470" eaLnBrk="0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3、分数应用：首席专家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院内述职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</a:t>
            </a:r>
            <a:r>
              <a:rPr 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占50%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（所在部门评价占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40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%、首席专家互评占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0%），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经院决策会议审议确定考核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等级；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4-2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职级及以上专</a:t>
            </a:r>
            <a:r>
              <a:rPr lang="zh-CN" altLang="en-US" sz="140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个人年度绩效中</a:t>
            </a:r>
            <a:r>
              <a:rPr lang="zh-CN" altLang="en-US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院内述职成绩占</a:t>
            </a:r>
            <a:r>
              <a:rPr lang="en-US" altLang="zh-CN" sz="140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（所内考核成绩占</a:t>
            </a:r>
            <a:r>
              <a:rPr lang="en-US" altLang="zh-CN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70%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），由部门确定考核</a:t>
            </a:r>
            <a:r>
              <a:rPr lang="zh-CN" altLang="en-US" sz="1400" dirty="0" smtClean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等级。</a:t>
            </a:r>
            <a:endParaRPr lang="en-US" altLang="zh-CN" sz="140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1474470" eaLnBrk="0">
              <a:lnSpc>
                <a:spcPct val="150000"/>
              </a:lnSpc>
            </a:pP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0" y="76200"/>
            <a:ext cx="9321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未来规划：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必有）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自定义 2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9889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3780</Words>
  <Application>WPS 演示</Application>
  <PresentationFormat>自定义</PresentationFormat>
  <Paragraphs>112</Paragraphs>
  <Slides>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等线</vt:lpstr>
      <vt:lpstr>Calibri Light</vt:lpstr>
      <vt:lpstr>微软雅黑</vt:lpstr>
      <vt:lpstr>华文中宋</vt:lpstr>
      <vt:lpstr>Calibri</vt:lpstr>
      <vt:lpstr>Arial Unicode MS</vt:lpstr>
      <vt:lpstr>Office 主题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在学习贯彻落实党的十九届五中全会精神 工作座谈会上的讲话要点</dc:title>
  <dc:creator>Administrator</dc:creator>
  <cp:lastModifiedBy>段雪莹</cp:lastModifiedBy>
  <cp:revision>4220</cp:revision>
  <cp:lastPrinted>2024-12-10T06:34:00Z</cp:lastPrinted>
  <dcterms:created xsi:type="dcterms:W3CDTF">2024-12-10T06:34:00Z</dcterms:created>
  <dcterms:modified xsi:type="dcterms:W3CDTF">2025-11-07T03:24:00Z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2021-02-14T08:00:00Z</vt:filetime>
  </property>
  <property fmtid="{D5CDD505-2E9C-101B-9397-08002B2CF9AE}" pid="3" name="Creator">
    <vt:lpwstr>WPS 演示</vt:lpwstr>
  </property>
  <property fmtid="{D5CDD505-2E9C-101B-9397-08002B2CF9AE}" pid="4" name="LastSaved">
    <vt:filetime>2021-02-16T08:00:00Z</vt:filetime>
  </property>
  <property fmtid="{D5CDD505-2E9C-101B-9397-08002B2CF9AE}" pid="5" name="KSOProductBuildVer">
    <vt:lpwstr>2052-11.8.2.12085</vt:lpwstr>
  </property>
  <property fmtid="{D5CDD505-2E9C-101B-9397-08002B2CF9AE}" pid="6" name="ICV">
    <vt:lpwstr>BD9596E61605462E8888724CFC254C17</vt:lpwstr>
  </property>
</Properties>
</file>